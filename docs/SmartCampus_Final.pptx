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מקטע ברירת מחדל" id="{C1F5568A-F521-4698-975C-2D43D61E7F6E}">
          <p14:sldIdLst>
            <p14:sldId id="271"/>
            <p14:sldId id="256"/>
          </p14:sldIdLst>
        </p14:section>
        <p14:section name="מקטע ללא כותרת" id="{9FD18EAB-15D4-4C17-AF35-648C3A137234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70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26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he-IL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92608" y="914400"/>
            <a:ext cx="3200400" cy="38587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6" name="Shape 3"/>
          <p:cNvSpPr/>
          <p:nvPr/>
        </p:nvSpPr>
        <p:spPr>
          <a:xfrm>
            <a:off x="292608" y="914400"/>
            <a:ext cx="3200400" cy="6400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8" name="Text 4"/>
          <p:cNvSpPr/>
          <p:nvPr/>
        </p:nvSpPr>
        <p:spPr>
          <a:xfrm>
            <a:off x="384048" y="2473452"/>
            <a:ext cx="2999232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תאמר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393192" y="2876745"/>
            <a:ext cx="2999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סטודנט </a:t>
            </a:r>
            <a:r>
              <a:rPr lang="en-US" sz="13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לפיתוח</a:t>
            </a:r>
            <a:r>
              <a:rPr lang="en-US" sz="13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תוכנה</a:t>
            </a:r>
            <a:endParaRPr lang="en-US" sz="1300" i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3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Cyberpro</a:t>
            </a:r>
            <a:r>
              <a:rPr lang="he-IL" sz="13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מכללת 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548640" y="3282696"/>
            <a:ext cx="2688336" cy="3657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1" name="Text 7"/>
          <p:cNvSpPr/>
          <p:nvPr/>
        </p:nvSpPr>
        <p:spPr>
          <a:xfrm>
            <a:off x="475488" y="336956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</a:t>
            </a:r>
            <a:r>
              <a:rPr lang="he-IL" sz="12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יאנוח</a:t>
            </a:r>
            <a:r>
              <a:rPr lang="he-IL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גת/רמת גן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5488" y="380390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</a:t>
            </a:r>
            <a:r>
              <a:rPr lang="he-IL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קורס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לפיתוח תוכנה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5488" y="419709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r>
              <a:rPr lang="en-US" sz="12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עברית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ערבית ואנגלית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767328" y="914400"/>
            <a:ext cx="1234440" cy="27432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5" name="Text 11"/>
          <p:cNvSpPr/>
          <p:nvPr/>
        </p:nvSpPr>
        <p:spPr>
          <a:xfrm>
            <a:off x="3767328" y="914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e-IL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חודשים לפני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767328" y="1197864"/>
            <a:ext cx="5102352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17" name="Shape 13"/>
          <p:cNvSpPr/>
          <p:nvPr/>
        </p:nvSpPr>
        <p:spPr>
          <a:xfrm>
            <a:off x="3767328" y="1197864"/>
            <a:ext cx="64008" cy="100584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8" name="Text 14"/>
          <p:cNvSpPr/>
          <p:nvPr/>
        </p:nvSpPr>
        <p:spPr>
          <a:xfrm>
            <a:off x="3913632" y="124358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</a:t>
            </a:r>
            <a:r>
              <a:rPr lang="he-IL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מאבטח/מוקד ביטחון – בית חולים נהריה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913632" y="1536192"/>
            <a:ext cx="4846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לאחר 5 שנים כמאבטח בבית חולים נהריה החלטתי לשנות כיוון לגמרי ללא שום ידע ורקע בתכנות. נרשמתי לתוכנית לוחמים להייטק לקורס פיתוח תוכנה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334256" y="2203704"/>
            <a:ext cx="54864" cy="731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1" name="Shape 17"/>
          <p:cNvSpPr/>
          <p:nvPr/>
        </p:nvSpPr>
        <p:spPr>
          <a:xfrm>
            <a:off x="3767328" y="2267712"/>
            <a:ext cx="1234440" cy="27432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2" name="Text 18"/>
          <p:cNvSpPr/>
          <p:nvPr/>
        </p:nvSpPr>
        <p:spPr>
          <a:xfrm>
            <a:off x="3767328" y="2267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היום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767328" y="2551176"/>
            <a:ext cx="5102352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24" name="Shape 20"/>
          <p:cNvSpPr/>
          <p:nvPr/>
        </p:nvSpPr>
        <p:spPr>
          <a:xfrm>
            <a:off x="3767328" y="2551176"/>
            <a:ext cx="64008" cy="100584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5" name="Text 21"/>
          <p:cNvSpPr/>
          <p:nvPr/>
        </p:nvSpPr>
        <p:spPr>
          <a:xfrm>
            <a:off x="3913632" y="259689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סטודנט לפיתוח תוכנה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3913632" y="2889504"/>
            <a:ext cx="4846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האתגר היה עצום נכנסתי לקורס עם אפס ניסיון קודם וזה דורש ממני למידה עצמית מעבר לשעות הלימוד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334256" y="3557016"/>
            <a:ext cx="54864" cy="731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8" name="Shape 24"/>
          <p:cNvSpPr/>
          <p:nvPr/>
        </p:nvSpPr>
        <p:spPr>
          <a:xfrm>
            <a:off x="3767328" y="3621024"/>
            <a:ext cx="1234440" cy="27432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9" name="Text 25"/>
          <p:cNvSpPr/>
          <p:nvPr/>
        </p:nvSpPr>
        <p:spPr>
          <a:xfrm>
            <a:off x="3767328" y="36210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המטרה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3767328" y="3904488"/>
            <a:ext cx="5102352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31" name="Shape 27"/>
          <p:cNvSpPr/>
          <p:nvPr/>
        </p:nvSpPr>
        <p:spPr>
          <a:xfrm>
            <a:off x="3767328" y="3904488"/>
            <a:ext cx="64008" cy="100584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2" name="Text 28"/>
          <p:cNvSpPr/>
          <p:nvPr/>
        </p:nvSpPr>
        <p:spPr>
          <a:xfrm>
            <a:off x="3913632" y="39502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מפתח תוכנה מלא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3913632" y="4242816"/>
            <a:ext cx="4846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אני מאמין שדרך עבודה קשה ובניית פרויקטים אמיתיים ניתן לצמוח מהר יותר ולהשיג מטרות שלא חשבתי עליהם לפני כמה חודשים</a:t>
            </a:r>
            <a:endParaRPr lang="en-US" sz="1200" dirty="0"/>
          </a:p>
        </p:txBody>
      </p:sp>
      <p:pic>
        <p:nvPicPr>
          <p:cNvPr id="34" name="תמונה 33">
            <a:extLst>
              <a:ext uri="{FF2B5EF4-FFF2-40B4-BE49-F238E27FC236}">
                <a16:creationId xmlns:a16="http://schemas.microsoft.com/office/drawing/2014/main" id="{3534D213-9D29-F028-A44F-FD60C084B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80" y="1033272"/>
            <a:ext cx="1632799" cy="13670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493189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" name="Shape 1"/>
          <p:cNvSpPr/>
          <p:nvPr/>
        </p:nvSpPr>
        <p:spPr>
          <a:xfrm>
            <a:off x="201168" y="4867890"/>
            <a:ext cx="8942832" cy="6400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4" name="Shape 2"/>
          <p:cNvSpPr/>
          <p:nvPr/>
        </p:nvSpPr>
        <p:spPr>
          <a:xfrm>
            <a:off x="7498080" y="269748"/>
            <a:ext cx="1280160" cy="1280160"/>
          </a:xfrm>
          <a:prstGeom prst="ellipse">
            <a:avLst/>
          </a:prstGeom>
          <a:solidFill>
            <a:srgbClr val="0070C0">
              <a:alpha val="15000"/>
            </a:srgbClr>
          </a:solidFill>
          <a:ln/>
        </p:spPr>
        <p:txBody>
          <a:bodyPr/>
          <a:lstStyle/>
          <a:p>
            <a:endParaRPr lang="he-IL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5720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7531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Assistant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1411224"/>
            <a:ext cx="7315200" cy="604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2026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196138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Q&amp;A System for Campus Life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2865882"/>
            <a:ext cx="1828800" cy="402336"/>
          </a:xfrm>
          <a:prstGeom prst="roundRect">
            <a:avLst>
              <a:gd name="adj" fmla="val 22727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0" name="Text 7"/>
          <p:cNvSpPr/>
          <p:nvPr/>
        </p:nvSpPr>
        <p:spPr>
          <a:xfrm>
            <a:off x="457200" y="286588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42032" y="2865882"/>
            <a:ext cx="1828800" cy="402336"/>
          </a:xfrm>
          <a:prstGeom prst="roundRect">
            <a:avLst>
              <a:gd name="adj" fmla="val 22727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2" name="Text 9"/>
          <p:cNvSpPr/>
          <p:nvPr/>
        </p:nvSpPr>
        <p:spPr>
          <a:xfrm>
            <a:off x="2542032" y="286588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26864" y="2865882"/>
            <a:ext cx="1828800" cy="402336"/>
          </a:xfrm>
          <a:prstGeom prst="roundRect">
            <a:avLst>
              <a:gd name="adj" fmla="val 22727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4" name="Text 11"/>
          <p:cNvSpPr/>
          <p:nvPr/>
        </p:nvSpPr>
        <p:spPr>
          <a:xfrm>
            <a:off x="4626864" y="286588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11696" y="2865882"/>
            <a:ext cx="1828800" cy="402336"/>
          </a:xfrm>
          <a:prstGeom prst="roundRect">
            <a:avLst>
              <a:gd name="adj" fmla="val 22727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6" name="Text 13"/>
          <p:cNvSpPr/>
          <p:nvPr/>
        </p:nvSpPr>
        <p:spPr>
          <a:xfrm>
            <a:off x="6711696" y="286588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763557"/>
            <a:ext cx="2560320" cy="457200"/>
          </a:xfrm>
          <a:prstGeom prst="rect">
            <a:avLst/>
          </a:prstGeom>
          <a:gradFill flip="none" rotWithShape="1">
            <a:gsLst>
              <a:gs pos="0">
                <a:srgbClr val="4F46E5">
                  <a:shade val="30000"/>
                  <a:satMod val="115000"/>
                </a:srgbClr>
              </a:gs>
              <a:gs pos="50000">
                <a:srgbClr val="4F46E5">
                  <a:shade val="67500"/>
                  <a:satMod val="115000"/>
                </a:srgbClr>
              </a:gs>
              <a:gs pos="100000">
                <a:srgbClr val="4F46E5">
                  <a:shade val="100000"/>
                  <a:satMod val="115000"/>
                </a:srgbClr>
              </a:gs>
            </a:gsLst>
            <a:lin ang="1350000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8" name="Text 15"/>
          <p:cNvSpPr/>
          <p:nvPr/>
        </p:nvSpPr>
        <p:spPr>
          <a:xfrm>
            <a:off x="365760" y="375994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Tamer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Idea Was Born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57400" y="1444752"/>
            <a:ext cx="393192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5" name="Shape 3"/>
          <p:cNvSpPr/>
          <p:nvPr/>
        </p:nvSpPr>
        <p:spPr>
          <a:xfrm>
            <a:off x="731520" y="1024128"/>
            <a:ext cx="804672" cy="804672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2057400" cy="6400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2996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2011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88620" y="2377440"/>
            <a:ext cx="182880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search multiple sources for campus info: exam times, room availability, staff hours. Scattered and inefficient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33672" y="1444752"/>
            <a:ext cx="393192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3" name="Shape 10"/>
          <p:cNvSpPr/>
          <p:nvPr/>
        </p:nvSpPr>
        <p:spPr>
          <a:xfrm>
            <a:off x="2907792" y="1024128"/>
            <a:ext cx="804672" cy="804672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4" name="Text 11"/>
          <p:cNvSpPr/>
          <p:nvPr/>
        </p:nvSpPr>
        <p:spPr>
          <a:xfrm>
            <a:off x="2907792" y="102412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2450592" y="1920240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16" name="Shape 13"/>
          <p:cNvSpPr/>
          <p:nvPr/>
        </p:nvSpPr>
        <p:spPr>
          <a:xfrm>
            <a:off x="2450592" y="1920240"/>
            <a:ext cx="2057400" cy="6400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2029968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80944" y="2011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560320" y="2468880"/>
            <a:ext cx="182880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one system answered any campus question in natural language? A chatbot connected to the real campus database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09944" y="1444752"/>
            <a:ext cx="393192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1" name="Shape 17"/>
          <p:cNvSpPr/>
          <p:nvPr/>
        </p:nvSpPr>
        <p:spPr>
          <a:xfrm>
            <a:off x="5084064" y="1024128"/>
            <a:ext cx="804672" cy="804672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2" name="Text 18"/>
          <p:cNvSpPr/>
          <p:nvPr/>
        </p:nvSpPr>
        <p:spPr>
          <a:xfrm>
            <a:off x="5084064" y="102412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4626864" y="1920240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24" name="Shape 20"/>
          <p:cNvSpPr/>
          <p:nvPr/>
        </p:nvSpPr>
        <p:spPr>
          <a:xfrm>
            <a:off x="4626864" y="1920240"/>
            <a:ext cx="2057400" cy="6400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2029968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57216" y="2011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Choices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741164" y="2283899"/>
            <a:ext cx="182880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for a fast backend, Google Gemini for AI, PostgreSQL for data, Docker for deployment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260336" y="1024128"/>
            <a:ext cx="804672" cy="804672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9" name="Text 24"/>
          <p:cNvSpPr/>
          <p:nvPr/>
        </p:nvSpPr>
        <p:spPr>
          <a:xfrm>
            <a:off x="7260336" y="102412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Shape 25"/>
          <p:cNvSpPr/>
          <p:nvPr/>
        </p:nvSpPr>
        <p:spPr>
          <a:xfrm>
            <a:off x="6803136" y="1920240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31" name="Shape 26"/>
          <p:cNvSpPr/>
          <p:nvPr/>
        </p:nvSpPr>
        <p:spPr>
          <a:xfrm>
            <a:off x="6803136" y="1920240"/>
            <a:ext cx="2057400" cy="6400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4" y="2029968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333488" y="2011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6912864" y="2468880"/>
            <a:ext cx="182880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system that answers in Hebrew and English, classifies questions by category, and remembers conversation context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64008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(Jinja2 SSR + CSS)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60520" y="914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 ·  chat.html  ·  admin.html · edit.html  ·  base.html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07408" y="1554480"/>
            <a:ext cx="54864" cy="1188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8" name="Shape 6"/>
          <p:cNvSpPr/>
          <p:nvPr/>
        </p:nvSpPr>
        <p:spPr>
          <a:xfrm>
            <a:off x="320040" y="1673352"/>
            <a:ext cx="8503920" cy="6400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 (main.py)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60520" y="16733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include_router(admin)  ·  include_router(ask_route)  ·  Static files mount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7408" y="2313432"/>
            <a:ext cx="54864" cy="1188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2" name="Shape 10"/>
          <p:cNvSpPr/>
          <p:nvPr/>
        </p:nvSpPr>
        <p:spPr>
          <a:xfrm>
            <a:off x="320040" y="2432304"/>
            <a:ext cx="8503920" cy="64008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3" name="Text 11"/>
          <p:cNvSpPr/>
          <p:nvPr/>
        </p:nvSpPr>
        <p:spPr>
          <a:xfrm>
            <a:off x="457200" y="243230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60520" y="24323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/ask  ·  GET /admin?table=  ·  POST /admin/faq/add  ·  POST /admin/staff/add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07408" y="3072384"/>
            <a:ext cx="54864" cy="1188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6" name="Shape 14"/>
          <p:cNvSpPr/>
          <p:nvPr/>
        </p:nvSpPr>
        <p:spPr>
          <a:xfrm>
            <a:off x="320040" y="3191256"/>
            <a:ext cx="8503920" cy="640080"/>
          </a:xfrm>
          <a:prstGeom prst="rect">
            <a:avLst/>
          </a:prstGeom>
          <a:solidFill>
            <a:srgbClr val="312E81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7" name="Text 15"/>
          <p:cNvSpPr/>
          <p:nvPr/>
        </p:nvSpPr>
        <p:spPr>
          <a:xfrm>
            <a:off x="457200" y="319125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Layer  (ai_service.py)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60520" y="319125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get_ai_category_and_answer()  ·  Google Gemini 2.5-flash  ·  Structured prompt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07408" y="3831336"/>
            <a:ext cx="54864" cy="1188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0" name="Shape 18"/>
          <p:cNvSpPr/>
          <p:nvPr/>
        </p:nvSpPr>
        <p:spPr>
          <a:xfrm>
            <a:off x="320040" y="3950208"/>
            <a:ext cx="8503920" cy="64008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1" name="Text 19"/>
          <p:cNvSpPr/>
          <p:nvPr/>
        </p:nvSpPr>
        <p:spPr>
          <a:xfrm>
            <a:off x="457200" y="39502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 (SQLAlchemy ORM)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60520" y="39502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ExamSchedule  ·  Facility  ·  StaffMember  ·  FAQ  →  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Models  —  campus.py (SQLAlchemy ORM)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16052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4160520" cy="43891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6" name="Text 4"/>
          <p:cNvSpPr/>
          <p:nvPr/>
        </p:nvSpPr>
        <p:spPr>
          <a:xfrm>
            <a:off x="384048" y="8961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ExamSchedule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71800" y="8961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exam_schedules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id: Integer (PK)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6596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course_name: String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exam_date: DateTime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1808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room_number: String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896112"/>
            <a:ext cx="416052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13" name="Shape 11"/>
          <p:cNvSpPr/>
          <p:nvPr/>
        </p:nvSpPr>
        <p:spPr>
          <a:xfrm>
            <a:off x="4709160" y="896112"/>
            <a:ext cx="4160520" cy="43891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4" name="Text 12"/>
          <p:cNvSpPr/>
          <p:nvPr/>
        </p:nvSpPr>
        <p:spPr>
          <a:xfrm>
            <a:off x="4818888" y="8961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06640" y="8961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facilities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3990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id: Integer (PK)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16596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name: String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1920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location: String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1808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String (default='Active')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44952"/>
            <a:ext cx="416052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21" name="Shape 19"/>
          <p:cNvSpPr/>
          <p:nvPr/>
        </p:nvSpPr>
        <p:spPr>
          <a:xfrm>
            <a:off x="274320" y="3044952"/>
            <a:ext cx="4160520" cy="43891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2" name="Text 20"/>
          <p:cNvSpPr/>
          <p:nvPr/>
        </p:nvSpPr>
        <p:spPr>
          <a:xfrm>
            <a:off x="384048" y="30449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StaffMember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71800" y="30449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staff_members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547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id: Integer (PK)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38084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name: String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4069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role: String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331720" y="35524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office_location: String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31720" y="381076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office_hours: String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331720" y="40645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email: String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044952"/>
            <a:ext cx="416052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31" name="Shape 29"/>
          <p:cNvSpPr/>
          <p:nvPr/>
        </p:nvSpPr>
        <p:spPr>
          <a:xfrm>
            <a:off x="4709160" y="3044952"/>
            <a:ext cx="4160520" cy="43891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2" name="Text 30"/>
          <p:cNvSpPr/>
          <p:nvPr/>
        </p:nvSpPr>
        <p:spPr>
          <a:xfrm>
            <a:off x="4818888" y="30449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06640" y="30449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faqs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547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id: Integer (PK)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38084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category: String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4069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question_topic: String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43296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answer_text: Text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 —  ai_service.py  (Google Gemini 2.5-flash)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55449" y="111556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818CF8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5" name="Text 3"/>
          <p:cNvSpPr/>
          <p:nvPr/>
        </p:nvSpPr>
        <p:spPr>
          <a:xfrm>
            <a:off x="155449" y="111556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 + Conversation History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65961" y="1554480"/>
            <a:ext cx="54864" cy="10972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7" name="Shape 5"/>
          <p:cNvSpPr/>
          <p:nvPr/>
        </p:nvSpPr>
        <p:spPr>
          <a:xfrm>
            <a:off x="155449" y="166420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8" name="Text 6"/>
          <p:cNvSpPr/>
          <p:nvPr/>
        </p:nvSpPr>
        <p:spPr>
          <a:xfrm>
            <a:off x="155449" y="166420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DB Data  (4 tables)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65961" y="2103120"/>
            <a:ext cx="54864" cy="10972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0" name="Shape 8"/>
          <p:cNvSpPr/>
          <p:nvPr/>
        </p:nvSpPr>
        <p:spPr>
          <a:xfrm>
            <a:off x="155449" y="221284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1" name="Text 9"/>
          <p:cNvSpPr/>
          <p:nvPr/>
        </p:nvSpPr>
        <p:spPr>
          <a:xfrm>
            <a:off x="155449" y="221284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Structured Context Prompt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1" y="2651760"/>
            <a:ext cx="54864" cy="10972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3" name="Shape 11"/>
          <p:cNvSpPr/>
          <p:nvPr/>
        </p:nvSpPr>
        <p:spPr>
          <a:xfrm>
            <a:off x="155449" y="276148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312E81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4" name="Text 12"/>
          <p:cNvSpPr/>
          <p:nvPr/>
        </p:nvSpPr>
        <p:spPr>
          <a:xfrm>
            <a:off x="155449" y="27614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2.5-flash API Call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5961" y="3200400"/>
            <a:ext cx="54864" cy="10972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6" name="Shape 14"/>
          <p:cNvSpPr/>
          <p:nvPr/>
        </p:nvSpPr>
        <p:spPr>
          <a:xfrm>
            <a:off x="155449" y="3301922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7" name="Text 15"/>
          <p:cNvSpPr/>
          <p:nvPr/>
        </p:nvSpPr>
        <p:spPr>
          <a:xfrm>
            <a:off x="155449" y="33101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 CATEGORY + ANSWER  response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92674" y="91440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Prompt Rules: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0" y="1363472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0" name="Text 18"/>
          <p:cNvSpPr/>
          <p:nvPr/>
        </p:nvSpPr>
        <p:spPr>
          <a:xfrm>
            <a:off x="4572000" y="13634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65192" y="131673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- Reply in the same language as the question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838960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3" name="Text 21"/>
          <p:cNvSpPr/>
          <p:nvPr/>
        </p:nvSpPr>
        <p:spPr>
          <a:xfrm>
            <a:off x="4572000" y="18389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65192" y="179222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SCAN - Read all DB tables before answering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314448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6" name="Text 24"/>
          <p:cNvSpPr/>
          <p:nvPr/>
        </p:nvSpPr>
        <p:spPr>
          <a:xfrm>
            <a:off x="4572000" y="231444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65192" y="226771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AWARENESS - Use full conversation history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789936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9" name="Text 27"/>
          <p:cNvSpPr/>
          <p:nvPr/>
        </p:nvSpPr>
        <p:spPr>
          <a:xfrm>
            <a:off x="4572000" y="278993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65192" y="27432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PRIORITIZATION - Last message takes priority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3265424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2" name="Text 30"/>
          <p:cNvSpPr/>
          <p:nvPr/>
        </p:nvSpPr>
        <p:spPr>
          <a:xfrm>
            <a:off x="4572000" y="32654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65192" y="321868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FALLBACK - Suggest alternatives if not found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3740912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5" name="Text 33"/>
          <p:cNvSpPr/>
          <p:nvPr/>
        </p:nvSpPr>
        <p:spPr>
          <a:xfrm>
            <a:off x="4572000" y="374091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65192" y="369417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INFERENCE - Map vague terms to real data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 —  POST /ask  (ask_route.py)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94560" y="1161288"/>
            <a:ext cx="1417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7" name="Shape 5"/>
          <p:cNvSpPr/>
          <p:nvPr/>
        </p:nvSpPr>
        <p:spPr>
          <a:xfrm>
            <a:off x="3621024" y="960120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312E81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8" name="Text 6"/>
          <p:cNvSpPr/>
          <p:nvPr/>
        </p:nvSpPr>
        <p:spPr>
          <a:xfrm>
            <a:off x="3621024" y="960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87568" y="103327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/ask  { question, history 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1" name="Text 9"/>
          <p:cNvSpPr/>
          <p:nvPr/>
        </p:nvSpPr>
        <p:spPr>
          <a:xfrm>
            <a:off x="274320" y="158191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94560" y="1783080"/>
            <a:ext cx="1417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3" name="Shape 11"/>
          <p:cNvSpPr/>
          <p:nvPr/>
        </p:nvSpPr>
        <p:spPr>
          <a:xfrm>
            <a:off x="3621024" y="1581912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312E81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4" name="Text 12"/>
          <p:cNvSpPr/>
          <p:nvPr/>
        </p:nvSpPr>
        <p:spPr>
          <a:xfrm>
            <a:off x="3621024" y="158191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AskRequest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87568" y="165506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 validation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03704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7" name="Text 15"/>
          <p:cNvSpPr/>
          <p:nvPr/>
        </p:nvSpPr>
        <p:spPr>
          <a:xfrm>
            <a:off x="274320" y="22037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AskRequest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94560" y="2404872"/>
            <a:ext cx="1417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9" name="Shape 17"/>
          <p:cNvSpPr/>
          <p:nvPr/>
        </p:nvSpPr>
        <p:spPr>
          <a:xfrm>
            <a:off x="3621024" y="2203704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312E81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0" name="Text 18"/>
          <p:cNvSpPr/>
          <p:nvPr/>
        </p:nvSpPr>
        <p:spPr>
          <a:xfrm>
            <a:off x="3621024" y="22037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run_in_threadpool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87568" y="227685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DB access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825496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3" name="Text 21"/>
          <p:cNvSpPr/>
          <p:nvPr/>
        </p:nvSpPr>
        <p:spPr>
          <a:xfrm>
            <a:off x="274320" y="28254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run_in_threadpool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94560" y="3026664"/>
            <a:ext cx="1417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5" name="Shape 23"/>
          <p:cNvSpPr/>
          <p:nvPr/>
        </p:nvSpPr>
        <p:spPr>
          <a:xfrm>
            <a:off x="3621024" y="2825496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312E81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6" name="Text 24"/>
          <p:cNvSpPr/>
          <p:nvPr/>
        </p:nvSpPr>
        <p:spPr>
          <a:xfrm>
            <a:off x="3621024" y="28254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ai_service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87568" y="289864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fetch_all_data(db) -&gt; 4 tables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447288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9" name="Text 27"/>
          <p:cNvSpPr/>
          <p:nvPr/>
        </p:nvSpPr>
        <p:spPr>
          <a:xfrm>
            <a:off x="274320" y="34472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ai_service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194560" y="3648456"/>
            <a:ext cx="1417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1" name="Shape 29"/>
          <p:cNvSpPr/>
          <p:nvPr/>
        </p:nvSpPr>
        <p:spPr>
          <a:xfrm>
            <a:off x="3621024" y="3447288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312E81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2" name="Text 30"/>
          <p:cNvSpPr/>
          <p:nvPr/>
        </p:nvSpPr>
        <p:spPr>
          <a:xfrm>
            <a:off x="3621024" y="34472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87568" y="35204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with full context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069080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5" name="Text 33"/>
          <p:cNvSpPr/>
          <p:nvPr/>
        </p:nvSpPr>
        <p:spPr>
          <a:xfrm>
            <a:off x="274320" y="40690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194560" y="4270248"/>
            <a:ext cx="1417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7" name="Shape 35"/>
          <p:cNvSpPr/>
          <p:nvPr/>
        </p:nvSpPr>
        <p:spPr>
          <a:xfrm>
            <a:off x="3621024" y="4069080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312E81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8" name="Text 36"/>
          <p:cNvSpPr/>
          <p:nvPr/>
        </p:nvSpPr>
        <p:spPr>
          <a:xfrm>
            <a:off x="3621024" y="40690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87568" y="414223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AskResponse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 —  Live Screenshots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347472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5" name="Text 3"/>
          <p:cNvSpPr/>
          <p:nvPr/>
        </p:nvSpPr>
        <p:spPr>
          <a:xfrm>
            <a:off x="384048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 —  index.html</a:t>
            </a:r>
            <a:endParaRPr lang="en-US" sz="1200" dirty="0"/>
          </a:p>
        </p:txBody>
      </p:sp>
      <p:pic>
        <p:nvPicPr>
          <p:cNvPr id="6" name="Image 0" descr="/mnt/user-data/uploads/main_p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61872"/>
            <a:ext cx="4160520" cy="24338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695700"/>
            <a:ext cx="4160520" cy="82296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8" name="Text 5"/>
          <p:cNvSpPr/>
          <p:nvPr/>
        </p:nvSpPr>
        <p:spPr>
          <a:xfrm>
            <a:off x="274320" y="364236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Floating hero card with campus + robot icons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Chatting / Admin Panel buttons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Gradient background + Poppins font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914400"/>
            <a:ext cx="4160520" cy="347472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810000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0" name="Text 7"/>
          <p:cNvSpPr/>
          <p:nvPr/>
        </p:nvSpPr>
        <p:spPr>
          <a:xfrm>
            <a:off x="4818888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 —  Facilities Tab</a:t>
            </a:r>
            <a:endParaRPr lang="en-US" sz="1200" dirty="0"/>
          </a:p>
        </p:txBody>
      </p:sp>
      <p:pic>
        <p:nvPicPr>
          <p:cNvPr id="11" name="Image 1" descr="/mnt/user-data/uploads/admin_cru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2500" y="1261872"/>
            <a:ext cx="4107180" cy="23804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18888" y="3642360"/>
            <a:ext cx="3959352" cy="8763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13" name="Text 9"/>
          <p:cNvSpPr/>
          <p:nvPr/>
        </p:nvSpPr>
        <p:spPr>
          <a:xfrm>
            <a:off x="4818888" y="3633216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tables: FAQs / Staff / Facilities / Exams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CRUD: Add / Edit / Delete per table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badge (Active / Down)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Chat Interface  —  Live Screenshots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47472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Access  —  Lock Screen</a:t>
            </a:r>
            <a:endParaRPr lang="en-US" sz="1150" dirty="0"/>
          </a:p>
        </p:txBody>
      </p:sp>
      <p:pic>
        <p:nvPicPr>
          <p:cNvPr id="6" name="Image 0" descr="/mnt/user-data/uploads/admin_acc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61872"/>
            <a:ext cx="27432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005072"/>
            <a:ext cx="2743200" cy="749808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8" name="Text 5"/>
          <p:cNvSpPr/>
          <p:nvPr/>
        </p:nvSpPr>
        <p:spPr>
          <a:xfrm>
            <a:off x="384048" y="4059936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gate with sessionStorage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Unlock Dashboard button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 to Home navigation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914400"/>
            <a:ext cx="4625340" cy="347472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0" name="Text 7"/>
          <p:cNvSpPr/>
          <p:nvPr/>
        </p:nvSpPr>
        <p:spPr>
          <a:xfrm>
            <a:off x="3337560" y="91440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 —  Quick Prompts</a:t>
            </a:r>
            <a:endParaRPr lang="en-US" sz="1150" dirty="0"/>
          </a:p>
        </p:txBody>
      </p:sp>
      <p:pic>
        <p:nvPicPr>
          <p:cNvPr id="11" name="Image 1" descr="/mnt/user-data/uploads/empty_cha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46120" y="1261872"/>
            <a:ext cx="4625340" cy="2743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46120" y="4005072"/>
            <a:ext cx="4625340" cy="749808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13" name="Text 9"/>
          <p:cNvSpPr/>
          <p:nvPr/>
        </p:nvSpPr>
        <p:spPr>
          <a:xfrm>
            <a:off x="3337560" y="4059936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Greeting message on load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quick-prompt chips in Hebrew and English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 a message input + Send button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Action  —  Real Conversations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347472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270000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+ English Responses</a:t>
            </a:r>
            <a:endParaRPr lang="en-US" sz="1000" dirty="0"/>
          </a:p>
        </p:txBody>
      </p:sp>
      <p:pic>
        <p:nvPicPr>
          <p:cNvPr id="6" name="Image 0" descr="/mnt/user-data/uploads/english_hebr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61872"/>
            <a:ext cx="278892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261872"/>
            <a:ext cx="2788920" cy="3520440"/>
          </a:xfrm>
          <a:prstGeom prst="rect">
            <a:avLst/>
          </a:prstGeom>
          <a:ln w="1524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8" name="Shape 5"/>
          <p:cNvSpPr/>
          <p:nvPr/>
        </p:nvSpPr>
        <p:spPr>
          <a:xfrm>
            <a:off x="3127248" y="914400"/>
            <a:ext cx="2788920" cy="347472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9" name="Text 6"/>
          <p:cNvSpPr/>
          <p:nvPr/>
        </p:nvSpPr>
        <p:spPr>
          <a:xfrm>
            <a:off x="3200400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Staff &amp; General Info</a:t>
            </a:r>
            <a:endParaRPr lang="en-US" sz="1000" dirty="0"/>
          </a:p>
        </p:txBody>
      </p:sp>
      <p:pic>
        <p:nvPicPr>
          <p:cNvPr id="10" name="Image 1" descr="/mnt/user-data/uploads/out_of_sco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62472" y="1261872"/>
            <a:ext cx="2788920" cy="3520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127248" y="1261872"/>
            <a:ext cx="2788920" cy="3520440"/>
          </a:xfrm>
          <a:prstGeom prst="rect">
            <a:avLst/>
          </a:prstGeom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12" name="Shape 8"/>
          <p:cNvSpPr/>
          <p:nvPr/>
        </p:nvSpPr>
        <p:spPr>
          <a:xfrm>
            <a:off x="5989320" y="914400"/>
            <a:ext cx="2788920" cy="347472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8100000" scaled="1"/>
            <a:tileRect/>
          </a:gra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3" name="Text 9"/>
          <p:cNvSpPr/>
          <p:nvPr/>
        </p:nvSpPr>
        <p:spPr>
          <a:xfrm>
            <a:off x="6062472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+ Follow-up</a:t>
            </a:r>
            <a:endParaRPr lang="en-US" sz="1000" dirty="0"/>
          </a:p>
        </p:txBody>
      </p:sp>
      <p:pic>
        <p:nvPicPr>
          <p:cNvPr id="14" name="Image 2" descr="/mnt/user-data/uploads/Screenshot_2026-03-11_14542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27248" y="1261872"/>
            <a:ext cx="2788920" cy="35204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989320" y="1261872"/>
            <a:ext cx="2788920" cy="3520440"/>
          </a:xfrm>
          <a:prstGeom prst="rect">
            <a:avLst/>
          </a:prstGeom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Testing  —  Dockerfile + pytest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73152" cy="38862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241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10241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Dockerfile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1508760"/>
            <a:ext cx="3547872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Builder: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FROM python:3.12-slim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pip wheel -&gt; /app/wheels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Runner: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COPY wheels from builder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COPY application 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EXPOSE 8000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CMD uvicorn app.main:app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smaller image size,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tools in production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914400"/>
            <a:ext cx="4480560" cy="34747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0" name="Text 7"/>
          <p:cNvSpPr/>
          <p:nvPr/>
        </p:nvSpPr>
        <p:spPr>
          <a:xfrm>
            <a:off x="4453128" y="9144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passed in 12.13s</a:t>
            </a:r>
            <a:endParaRPr lang="en-US" sz="1100" dirty="0"/>
          </a:p>
        </p:txBody>
      </p:sp>
      <p:pic>
        <p:nvPicPr>
          <p:cNvPr id="11" name="Image 1" descr="/mnt/user-data/uploads/unit_tes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3400" y="1261872"/>
            <a:ext cx="4480560" cy="22677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43400" y="3529584"/>
            <a:ext cx="4480560" cy="1261872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13" name="Shape 9"/>
          <p:cNvSpPr/>
          <p:nvPr/>
        </p:nvSpPr>
        <p:spPr>
          <a:xfrm>
            <a:off x="4343400" y="3529584"/>
            <a:ext cx="64008" cy="126187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4" name="Text 10"/>
          <p:cNvSpPr/>
          <p:nvPr/>
        </p:nvSpPr>
        <p:spPr>
          <a:xfrm>
            <a:off x="4498848" y="359359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test_ask_valid_question  —  status 200, answer + category returned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498848" y="3826764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test_ask_empty_question  —  edge case: empty input handled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498848" y="405993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test_ask_english_question  —  multi-language support confirmed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498848" y="4293108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test_ask_out_of_scope  —  category returns 'Out of Scope'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498848" y="452628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test_response_time_metric  —  response_time field in JSON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 —  requirements.txt + Real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3268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5" name="Shape 3"/>
          <p:cNvSpPr/>
          <p:nvPr/>
        </p:nvSpPr>
        <p:spPr>
          <a:xfrm>
            <a:off x="256032" y="932688"/>
            <a:ext cx="2743200" cy="64008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he-IL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1338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972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3192" y="173736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routing, Jinja2 SSR, StaticFiles, Uvicorn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93268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10" name="Shape 7"/>
          <p:cNvSpPr/>
          <p:nvPr/>
        </p:nvSpPr>
        <p:spPr>
          <a:xfrm>
            <a:off x="3200400" y="932688"/>
            <a:ext cx="2743200" cy="64008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he-IL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13385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0208" y="10972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2.5-flash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173736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google-generativeai  ·  ai_service.py  ·  Prompt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44768" y="93268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1"/>
          <p:cNvSpPr/>
          <p:nvPr/>
        </p:nvSpPr>
        <p:spPr>
          <a:xfrm>
            <a:off x="6144768" y="932688"/>
            <a:ext cx="2743200" cy="64008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13385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94576" y="10972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81928" y="173736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(prod)  ·  psycopg2  ·  dotenv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56032" y="285292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Shape 15"/>
          <p:cNvSpPr/>
          <p:nvPr/>
        </p:nvSpPr>
        <p:spPr>
          <a:xfrm>
            <a:off x="256032" y="2852928"/>
            <a:ext cx="2743200" cy="64008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05409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301752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+ CSS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93192" y="365760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templates  ·  Poppins font  ·  CSS custom properties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00400" y="285292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5" name="Shape 19"/>
          <p:cNvSpPr/>
          <p:nvPr/>
        </p:nvSpPr>
        <p:spPr>
          <a:xfrm>
            <a:off x="3200400" y="2852928"/>
            <a:ext cx="2743200" cy="64008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054096"/>
            <a:ext cx="475488" cy="4754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0208" y="301752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37560" y="365760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  ·  python:3.12-slim  ·  Port 8000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53912" y="285292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0" name="Shape 23"/>
          <p:cNvSpPr/>
          <p:nvPr/>
        </p:nvSpPr>
        <p:spPr>
          <a:xfrm>
            <a:off x="6144768" y="2852928"/>
            <a:ext cx="2743200" cy="64008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054096"/>
            <a:ext cx="475488" cy="4754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94576" y="301752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TestClient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81928" y="365760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automated tests  ·  edge cases  ·  multilang coverage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  —  4-Stage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2029968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029968" cy="8229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&amp; PM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3776" y="2432304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Document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 &amp; Scope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27939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987552"/>
            <a:ext cx="2029968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450592" y="987552"/>
            <a:ext cx="2029968" cy="8229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2450592" y="987552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42032" y="192024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Mgmt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43200" y="2432304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Methodology &amp; Backlog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Cases &amp; User Stories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 Chart &amp; Deliverables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42032" y="427939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987552"/>
            <a:ext cx="2029968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626864" y="987552"/>
            <a:ext cx="2029968" cy="8229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4626864" y="987552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18304" y="192024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82896" y="2432304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integration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CRUD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8304" y="427939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93408" y="987552"/>
            <a:ext cx="2029968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803136" y="987552"/>
            <a:ext cx="1938528" cy="82296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Text 22"/>
          <p:cNvSpPr/>
          <p:nvPr/>
        </p:nvSpPr>
        <p:spPr>
          <a:xfrm>
            <a:off x="6803136" y="987552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94576" y="192024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67144" y="2441409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(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README File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CI/CD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4848" y="4272534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In Progress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Reflection &amp; Future Roadmap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56032" y="914400"/>
            <a:ext cx="2852928" cy="4754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3"/>
          <p:cNvSpPr/>
          <p:nvPr/>
        </p:nvSpPr>
        <p:spPr>
          <a:xfrm>
            <a:off x="347472" y="914400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Delays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56032" y="1481328"/>
            <a:ext cx="2852928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Shape 5"/>
          <p:cNvSpPr/>
          <p:nvPr/>
        </p:nvSpPr>
        <p:spPr>
          <a:xfrm>
            <a:off x="256032" y="1481328"/>
            <a:ext cx="64008" cy="107899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402336" y="153619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Accuracy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2336" y="1828800"/>
            <a:ext cx="26243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System Prompt balance so Gemini returns a valid Category + Answer format without breaking language rules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256032" y="2670048"/>
            <a:ext cx="2852928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12" name="Shape 9"/>
          <p:cNvSpPr/>
          <p:nvPr/>
        </p:nvSpPr>
        <p:spPr>
          <a:xfrm>
            <a:off x="256032" y="2670048"/>
            <a:ext cx="64008" cy="107899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0"/>
          <p:cNvSpPr/>
          <p:nvPr/>
        </p:nvSpPr>
        <p:spPr>
          <a:xfrm>
            <a:off x="402336" y="272491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DB Sync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02336" y="3017520"/>
            <a:ext cx="26243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non-blocking data fetching inside FastAPI using run_in_threadpool to avoid slowing down user response time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56032" y="3858768"/>
            <a:ext cx="2852928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6" name="Shape 13"/>
          <p:cNvSpPr/>
          <p:nvPr/>
        </p:nvSpPr>
        <p:spPr>
          <a:xfrm>
            <a:off x="256032" y="3858768"/>
            <a:ext cx="64008" cy="107899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4"/>
          <p:cNvSpPr/>
          <p:nvPr/>
        </p:nvSpPr>
        <p:spPr>
          <a:xfrm>
            <a:off x="402336" y="391363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Docker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02336" y="4206240"/>
            <a:ext cx="26243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 multi-stage build from scratch with no prior background - required significant self-study to reach an optimized image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18688" y="914400"/>
            <a:ext cx="2852928" cy="475488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3310128" y="914400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I Would Improve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218688" y="1481328"/>
            <a:ext cx="2852928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2" name="Shape 19"/>
          <p:cNvSpPr/>
          <p:nvPr/>
        </p:nvSpPr>
        <p:spPr>
          <a:xfrm>
            <a:off x="3218688" y="1481328"/>
            <a:ext cx="64008" cy="107899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20"/>
          <p:cNvSpPr/>
          <p:nvPr/>
        </p:nvSpPr>
        <p:spPr>
          <a:xfrm>
            <a:off x="3364992" y="153619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Auth System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364992" y="1828800"/>
            <a:ext cx="26243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simple password gate with OAuth2 and role-based permissions for lecturers, students, and admins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18688" y="2670048"/>
            <a:ext cx="2852928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26" name="Shape 23"/>
          <p:cNvSpPr/>
          <p:nvPr/>
        </p:nvSpPr>
        <p:spPr>
          <a:xfrm>
            <a:off x="3218688" y="2670048"/>
            <a:ext cx="64008" cy="107899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Text 24"/>
          <p:cNvSpPr/>
          <p:nvPr/>
        </p:nvSpPr>
        <p:spPr>
          <a:xfrm>
            <a:off x="3364992" y="272491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RAG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364992" y="3017520"/>
            <a:ext cx="26243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 grows, move to Vector Search (Vector DB) instead of sending the entire DB in the prompt - saves tokens and improves accuracy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218688" y="3858768"/>
            <a:ext cx="2852928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0" name="Shape 27"/>
          <p:cNvSpPr/>
          <p:nvPr/>
        </p:nvSpPr>
        <p:spPr>
          <a:xfrm>
            <a:off x="3218688" y="3858768"/>
            <a:ext cx="64008" cy="107899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1" name="Text 28"/>
          <p:cNvSpPr/>
          <p:nvPr/>
        </p:nvSpPr>
        <p:spPr>
          <a:xfrm>
            <a:off x="3364992" y="391363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364992" y="4206240"/>
            <a:ext cx="26243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Jinja2 with React for a smoother SPA experience without full-page reloads on every interaction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181344" y="914400"/>
            <a:ext cx="2852928" cy="4754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4" name="Text 31"/>
          <p:cNvSpPr/>
          <p:nvPr/>
        </p:nvSpPr>
        <p:spPr>
          <a:xfrm>
            <a:off x="6272784" y="914400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Steps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181344" y="1481328"/>
            <a:ext cx="2852928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6" name="Shape 33"/>
          <p:cNvSpPr/>
          <p:nvPr/>
        </p:nvSpPr>
        <p:spPr>
          <a:xfrm>
            <a:off x="6181344" y="1481328"/>
            <a:ext cx="64008" cy="10789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7" name="Text 34"/>
          <p:cNvSpPr/>
          <p:nvPr/>
        </p:nvSpPr>
        <p:spPr>
          <a:xfrm>
            <a:off x="6327648" y="153619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 — Infrastructure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327648" y="1828800"/>
            <a:ext cx="26243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full cloud deployment (AWS / Google Cloud) and set up an automated CI/CD pipeline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181344" y="2670048"/>
            <a:ext cx="2852928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0" name="Shape 37"/>
          <p:cNvSpPr/>
          <p:nvPr/>
        </p:nvSpPr>
        <p:spPr>
          <a:xfrm>
            <a:off x="6181344" y="2670048"/>
            <a:ext cx="64008" cy="10789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1" name="Text 38"/>
          <p:cNvSpPr/>
          <p:nvPr/>
        </p:nvSpPr>
        <p:spPr>
          <a:xfrm>
            <a:off x="6327648" y="272491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File Support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327648" y="3017520"/>
            <a:ext cx="26243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students to upload syllabi and lecture notes - AI will answer questions based on their content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181344" y="3858768"/>
            <a:ext cx="2852928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4" name="Shape 41"/>
          <p:cNvSpPr/>
          <p:nvPr/>
        </p:nvSpPr>
        <p:spPr>
          <a:xfrm>
            <a:off x="6181344" y="3858768"/>
            <a:ext cx="64008" cy="10789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5" name="Text 42"/>
          <p:cNvSpPr/>
          <p:nvPr/>
        </p:nvSpPr>
        <p:spPr>
          <a:xfrm>
            <a:off x="6327648" y="391363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Schedule API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327648" y="4206240"/>
            <a:ext cx="26243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college's timetable API so students can query their own personal schedule through chat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483717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201168" y="4773168"/>
            <a:ext cx="8942832" cy="6400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Assistant  —  What Was Built: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180844"/>
            <a:ext cx="2651760" cy="475488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5400000" scaled="1"/>
            <a:tileRect/>
          </a:gra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457200" y="21808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Gemini 2.5-flash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0128" y="2180844"/>
            <a:ext cx="2651760" cy="475488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5400000" scaled="1"/>
            <a:tileRect/>
          </a:gra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3310128" y="21808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SQLAlchemy DB Models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2180844"/>
            <a:ext cx="2651760" cy="475488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5400000" scaled="1"/>
            <a:tileRect/>
          </a:gra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6163056" y="21808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 CRUD Panel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02636"/>
            <a:ext cx="2651760" cy="475488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457200" y="28026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 Build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10128" y="2802636"/>
            <a:ext cx="2651760" cy="475488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3310128" y="28026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Automated Unit Tests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63056" y="2802636"/>
            <a:ext cx="2651760" cy="475488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6163056" y="28026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+ English AI Chat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199" y="4352544"/>
            <a:ext cx="73738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https://github.com/tamerab1/Smart_Campus_Project  |  Smart Campus Assistant  © 2026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TM04033937[[fn=שובל אדים]]</Template>
  <TotalTime>1243</TotalTime>
  <Words>1366</Words>
  <Application>Microsoft Office PowerPoint</Application>
  <PresentationFormat>‫הצגה על המסך (16:9)</PresentationFormat>
  <Paragraphs>242</Paragraphs>
  <Slides>15</Slides>
  <Notes>15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תאמר עבאס</cp:lastModifiedBy>
  <cp:revision>10</cp:revision>
  <dcterms:created xsi:type="dcterms:W3CDTF">2026-03-11T13:16:29Z</dcterms:created>
  <dcterms:modified xsi:type="dcterms:W3CDTF">2026-03-24T07:37:51Z</dcterms:modified>
</cp:coreProperties>
</file>